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57" r:id="rId3"/>
    <p:sldId id="258" r:id="rId4"/>
    <p:sldId id="267" r:id="rId5"/>
    <p:sldId id="268" r:id="rId6"/>
    <p:sldId id="259" r:id="rId7"/>
    <p:sldId id="260" r:id="rId8"/>
    <p:sldId id="261" r:id="rId9"/>
    <p:sldId id="262" r:id="rId10"/>
    <p:sldId id="271" r:id="rId11"/>
    <p:sldId id="263" r:id="rId12"/>
    <p:sldId id="265" r:id="rId13"/>
    <p:sldId id="270"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BA0CF3-2211-4D98-9032-A676FA1964EA}">
  <a:tblStyle styleId="{6BBA0CF3-2211-4D98-9032-A676FA1964E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806" autoAdjust="0"/>
  </p:normalViewPr>
  <p:slideViewPr>
    <p:cSldViewPr snapToGrid="0">
      <p:cViewPr varScale="1">
        <p:scale>
          <a:sx n="77" d="100"/>
          <a:sy n="77" d="100"/>
        </p:scale>
        <p:origin x="1618"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project centers around constructing a binary classification model that was built to predict which hospital patients will develop heart disease.</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e65b6bdc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e65b6bdc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sz="1800" b="0" i="0" u="none" strike="noStrike" baseline="0" dirty="0">
              <a:solidFill>
                <a:srgbClr val="000000"/>
              </a:solidFill>
              <a:latin typeface="Arial" panose="020B0604020202020204" pitchFamily="34" charset="0"/>
            </a:endParaRPr>
          </a:p>
          <a:p>
            <a:pPr marL="158750" indent="0">
              <a:buNone/>
            </a:pPr>
            <a:r>
              <a:rPr lang="en-US" sz="1800" b="0" i="0" u="none" strike="noStrike" baseline="0" dirty="0">
                <a:solidFill>
                  <a:srgbClr val="000000"/>
                </a:solidFill>
                <a:latin typeface="Arial" panose="020B0604020202020204" pitchFamily="34" charset="0"/>
              </a:rPr>
              <a:t>Heart disease kills many people in the U.S. each year and is responsible for billions of dollars in diagnosis and treatment costs. The billions that hospitals spend on blood tests and EKGs to identify heart disease alone could better be spent treating the disease. Is there a way to use a patient’s health information to identify their risk of heart disease?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e65b6bdc4b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e65b6bdc4b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200" dirty="0">
                <a:solidFill>
                  <a:schemeClr val="dk1"/>
                </a:solidFill>
                <a:latin typeface="Lato"/>
                <a:ea typeface="Lato"/>
                <a:cs typeface="Lato"/>
                <a:sym typeface="Lato"/>
              </a:rPr>
              <a:t>There is such a way!</a:t>
            </a:r>
            <a:r>
              <a:rPr lang="en-US" sz="1200" b="0" i="0" u="none" strike="noStrike" baseline="0" dirty="0">
                <a:solidFill>
                  <a:srgbClr val="000000"/>
                </a:solidFill>
                <a:latin typeface="Arial" panose="020B0604020202020204" pitchFamily="34" charset="0"/>
              </a:rPr>
              <a:t> Fortunately, there are many key health factors that increase the risk of heart disease. With a dataset of patients and whether they have those factors, a machine learning model can be trained on dataset to predict who will develop heart disease in the next 5 years. This would allow hospitals to better focus their resources, saving lives and reducing diagnosis costs. Random forest classification will be used for the model as it works well on large datasets with a binary target variable.</a:t>
            </a:r>
          </a:p>
          <a:p>
            <a:pPr marL="0" lvl="0" indent="0" algn="l" rtl="0">
              <a:spcBef>
                <a:spcPts val="0"/>
              </a:spcBef>
              <a:spcAft>
                <a:spcPts val="0"/>
              </a:spcAft>
              <a:buClr>
                <a:schemeClr val="dk1"/>
              </a:buClr>
              <a:buSzPts val="1100"/>
              <a:buFont typeface="Arial"/>
              <a:buNone/>
            </a:pPr>
            <a:endParaRPr lang="en-US" sz="1200" dirty="0">
              <a:solidFill>
                <a:schemeClr val="dk1"/>
              </a:solidFill>
              <a:latin typeface="Lato"/>
              <a:ea typeface="Lato"/>
              <a:cs typeface="Lato"/>
              <a:sym typeface="La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was one of the first things I considered after understanding the business problem and the data. Would this model have any ethical implications? In the future, insurance companies may abuse the model described in this project to raise the premiums on patients predicted to develop heart disease.</a:t>
            </a:r>
          </a:p>
        </p:txBody>
      </p:sp>
    </p:spTree>
    <p:extLst>
      <p:ext uri="{BB962C8B-B14F-4D97-AF65-F5344CB8AC3E}">
        <p14:creationId xmlns:p14="http://schemas.microsoft.com/office/powerpoint/2010/main" val="3882496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Here’s a snippet of the dataset used to train and test the model (data obtained from the Behavioral Risk Factor Surveillance System (BRFSS). Each row is one patient at a hospital and each column represents one health feature of that patient identified as a heart disease risk factor, such as BMI, smoking, age, exercise, etc. To save space, not all features are shown above.</a:t>
            </a:r>
          </a:p>
        </p:txBody>
      </p:sp>
    </p:spTree>
    <p:extLst>
      <p:ext uri="{BB962C8B-B14F-4D97-AF65-F5344CB8AC3E}">
        <p14:creationId xmlns:p14="http://schemas.microsoft.com/office/powerpoint/2010/main" val="4168920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e65b6bdc4b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e65b6bdc4b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procedure for constructing the model involves three steps: Preparing or “cleaning” the data, running some EDA to gain insight into the data, then training and testing the model. Accuracy and precision, both out of 100, were used to measure how well the model performed.</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e65b6bdc4b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e65b6bdc4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“cleaning” was done to prepare the data for input into the model. First, </a:t>
            </a:r>
            <a:r>
              <a:rPr lang="en-US" sz="1800" b="0" i="0" u="none" strike="noStrike" baseline="0" dirty="0">
                <a:solidFill>
                  <a:srgbClr val="000000"/>
                </a:solidFill>
                <a:latin typeface="Arial" panose="020B0604020202020204" pitchFamily="34" charset="0"/>
              </a:rPr>
              <a:t>each feature was checked for NA values and non-numerical columns. No NA values were found, and any Boolean/multiclass columns had their strings replaced with integers (e.g., a five-category column received 0-4 as integers). Finally, because very few patients in the dataset had heart disease, those patients were oversampled to make the number of patients with and without heart disease equal.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e65b6bdc4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e65b6bdc4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EDA step was conducted to gain insight into the data and </a:t>
            </a:r>
            <a:r>
              <a:rPr lang="en-US" sz="1800" b="0" i="0" u="none" strike="noStrike" baseline="0" dirty="0">
                <a:solidFill>
                  <a:srgbClr val="000000"/>
                </a:solidFill>
                <a:latin typeface="Arial" panose="020B0604020202020204" pitchFamily="34" charset="0"/>
              </a:rPr>
              <a:t>ballpark the range that the accuracy and precision might fall under. Here are selected graphs that were part of the EDA process.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e65b6bdc4b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e65b6bdc4b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After training and testing the model, the following values for the error were output. Since the model was a classifier, accuracy and precision were used to see how well it performed. Both values were above 90%, indicating the model performed very accurately. Conclusion: The model can be implemented!</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A few assumptions were made to proceed with this project. First and foremost, it was assumed that heart disease is one disease rather than related diseases under the same umbrella term. Second, it was assumed that the patients answered the BRFSS truthfully and the dataset obtained is accurate.</a:t>
            </a:r>
          </a:p>
        </p:txBody>
      </p:sp>
    </p:spTree>
    <p:extLst>
      <p:ext uri="{BB962C8B-B14F-4D97-AF65-F5344CB8AC3E}">
        <p14:creationId xmlns:p14="http://schemas.microsoft.com/office/powerpoint/2010/main" val="851743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e779804f2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e779804f2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800" b="0" i="0" u="none" strike="noStrike" baseline="0" dirty="0">
                <a:solidFill>
                  <a:srgbClr val="000000"/>
                </a:solidFill>
                <a:latin typeface="Arial" panose="020B0604020202020204" pitchFamily="34" charset="0"/>
              </a:rPr>
              <a:t>This model wasn’t without its challenges. Many models were cycled through before random forest: </a:t>
            </a:r>
          </a:p>
          <a:p>
            <a:pPr marL="457200" indent="-298450"/>
            <a:r>
              <a:rPr lang="en-US" sz="1800" b="0" i="0" u="none" strike="noStrike" baseline="0" dirty="0">
                <a:solidFill>
                  <a:srgbClr val="000000"/>
                </a:solidFill>
                <a:latin typeface="Arial" panose="020B0604020202020204" pitchFamily="34" charset="0"/>
              </a:rPr>
              <a:t>Logistic regression was the first logical choice for binary classification since it also handles large datasets, but it quickly proved to be undesirable, producing accuracy and precision scores of 72% and 73%, respectively. Medical models must be very accurate as patients’ lives can be drastically affected by a false positive/negative. </a:t>
            </a:r>
          </a:p>
          <a:p>
            <a:pPr marL="457200" indent="-298450"/>
            <a:r>
              <a:rPr lang="en-US" sz="1800" b="0" i="0" u="none" strike="noStrike" baseline="0" dirty="0">
                <a:solidFill>
                  <a:srgbClr val="000000"/>
                </a:solidFill>
                <a:latin typeface="Arial" panose="020B0604020202020204" pitchFamily="34" charset="0"/>
              </a:rPr>
              <a:t>A </a:t>
            </a:r>
            <a:r>
              <a:rPr lang="en-US" sz="1800" b="0" i="0" u="none" strike="noStrike" baseline="0" dirty="0" err="1">
                <a:solidFill>
                  <a:srgbClr val="000000"/>
                </a:solidFill>
                <a:latin typeface="Arial" panose="020B0604020202020204" pitchFamily="34" charset="0"/>
              </a:rPr>
              <a:t>Keras</a:t>
            </a:r>
            <a:r>
              <a:rPr lang="en-US" sz="1800" b="0" i="0" u="none" strike="noStrike" baseline="0" dirty="0">
                <a:solidFill>
                  <a:srgbClr val="000000"/>
                </a:solidFill>
                <a:latin typeface="Arial" panose="020B0604020202020204" pitchFamily="34" charset="0"/>
              </a:rPr>
              <a:t> neural network was trained and tested next, which produced higher scores, but the network took many hours to run even after tuning hyperparameters. </a:t>
            </a:r>
          </a:p>
          <a:p>
            <a:pPr marL="457200" indent="-298450"/>
            <a:r>
              <a:rPr lang="en-US" sz="1800" b="0" i="0" u="none" strike="noStrike" baseline="0" dirty="0">
                <a:solidFill>
                  <a:srgbClr val="000000"/>
                </a:solidFill>
                <a:latin typeface="Arial" panose="020B0604020202020204" pitchFamily="34" charset="0"/>
              </a:rPr>
              <a:t>A random forest classifier was then selected. This classifier resulted in the high scores seen above, though its runtime still leaves something to be desired. </a:t>
            </a:r>
          </a:p>
          <a:p>
            <a:pPr marL="914400" lvl="1" indent="-298450"/>
            <a:r>
              <a:rPr lang="en-US" sz="1800" b="0" i="0" u="none" strike="noStrike" baseline="0" dirty="0">
                <a:solidFill>
                  <a:srgbClr val="000000"/>
                </a:solidFill>
                <a:latin typeface="Arial" panose="020B0604020202020204" pitchFamily="34" charset="0"/>
              </a:rPr>
              <a:t>More computing power will be needed to solve this problem for future uses on actual hospital data.</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e65b6bdc4b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e65b6bdc4b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model isn’t limited to heart disease predictions. With training on a different dataset, a similar model could be applied to predicting whether a customer will buy a class of products. Most notably, it can be applied to cell phone providers </a:t>
            </a:r>
            <a:r>
              <a:rPr lang="en-US"/>
              <a:t>to predict which </a:t>
            </a:r>
            <a:r>
              <a:rPr lang="en-US" dirty="0"/>
              <a:t>customers will stay or leave within a certain time.</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1. Yes. Boosting algorithms could have been tested as well, but there was not enough time.</a:t>
            </a:r>
          </a:p>
          <a:p>
            <a:r>
              <a:rPr lang="en-US" dirty="0"/>
              <a:t>2. There should be enough computing power if each hospital possesses its own server.</a:t>
            </a:r>
          </a:p>
          <a:p>
            <a:r>
              <a:rPr lang="en-US" dirty="0"/>
              <a:t>3. Yes. A random sample of the data can be used rather than the whole data, as long as it’s sufficiently large for training.</a:t>
            </a:r>
          </a:p>
          <a:p>
            <a:r>
              <a:rPr lang="en-US" dirty="0"/>
              <a:t>4. The dataset would need another column specifying which disease the patient has if there is a “Yes” on heart disease.</a:t>
            </a:r>
          </a:p>
          <a:p>
            <a:r>
              <a:rPr lang="en-US" dirty="0"/>
              <a:t>5. Most of these diseases have similar enough risk factors that the model could predict whether a patient has one, but a separate column would still be needed to specify.</a:t>
            </a:r>
          </a:p>
          <a:p>
            <a:r>
              <a:rPr lang="en-US" dirty="0"/>
              <a:t>6. This model doesn’t work for other diseases, even if they have similar risks.</a:t>
            </a:r>
          </a:p>
          <a:p>
            <a:r>
              <a:rPr lang="en-US" dirty="0"/>
              <a:t>7. Hyperparameter tuning for each model did not yield greater than a 0.5% increase in accuracy.</a:t>
            </a:r>
          </a:p>
          <a:p>
            <a:r>
              <a:rPr lang="en-US" dirty="0"/>
              <a:t>8. One could also use this model in predicting other disease risks given the right dataset.</a:t>
            </a:r>
          </a:p>
          <a:p>
            <a:r>
              <a:rPr lang="en-US" dirty="0"/>
              <a:t>9. Oversampling and </a:t>
            </a:r>
            <a:r>
              <a:rPr lang="en-US" dirty="0" err="1"/>
              <a:t>undersampling</a:t>
            </a:r>
            <a:r>
              <a:rPr lang="en-US" dirty="0"/>
              <a:t> both balance the target variable, but oversampling increases the sample size.</a:t>
            </a:r>
          </a:p>
          <a:p>
            <a:r>
              <a:rPr lang="en-US" dirty="0"/>
              <a:t>10. There are several ways, but one way could be to use regulations and audit the companies.</a:t>
            </a:r>
          </a:p>
        </p:txBody>
      </p:sp>
    </p:spTree>
    <p:extLst>
      <p:ext uri="{BB962C8B-B14F-4D97-AF65-F5344CB8AC3E}">
        <p14:creationId xmlns:p14="http://schemas.microsoft.com/office/powerpoint/2010/main" val="1804445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93128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2477724" y="474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a:spLocks noGrp="1"/>
          </p:cNvSpPr>
          <p:nvPr>
            <p:ph type="ctrTitle"/>
          </p:nvPr>
        </p:nvSpPr>
        <p:spPr>
          <a:xfrm>
            <a:off x="2371725" y="630225"/>
            <a:ext cx="6331500" cy="15420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4" name="Google Shape;14;p2"/>
          <p:cNvSpPr txBox="1">
            <a:spLocks noGrp="1"/>
          </p:cNvSpPr>
          <p:nvPr>
            <p:ph type="subTitle" idx="1"/>
          </p:nvPr>
        </p:nvSpPr>
        <p:spPr>
          <a:xfrm>
            <a:off x="2390267" y="3238450"/>
            <a:ext cx="6331500" cy="12417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5" name="Google Shape;15;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w="38100" cap="flat" cmpd="sng">
            <a:solidFill>
              <a:schemeClr val="lt1"/>
            </a:solidFill>
            <a:prstDash val="solid"/>
            <a:round/>
            <a:headEnd type="none" w="sm" len="sm"/>
            <a:tailEnd type="none" w="sm" len="sm"/>
          </a:ln>
        </p:spPr>
      </p:cxnSp>
      <p:cxnSp>
        <p:nvCxnSpPr>
          <p:cNvPr id="18" name="Google Shape;18;p3"/>
          <p:cNvCxnSpPr/>
          <p:nvPr/>
        </p:nvCxnSpPr>
        <p:spPr>
          <a:xfrm>
            <a:off x="425200" y="4740000"/>
            <a:ext cx="8296800" cy="0"/>
          </a:xfrm>
          <a:prstGeom prst="straightConnector1">
            <a:avLst/>
          </a:prstGeom>
          <a:noFill/>
          <a:ln w="19050" cap="flat" cmpd="sng">
            <a:solidFill>
              <a:schemeClr val="lt1"/>
            </a:solidFill>
            <a:prstDash val="solid"/>
            <a:round/>
            <a:headEnd type="none" w="sm" len="sm"/>
            <a:tailEnd type="none" w="sm" len="sm"/>
          </a:ln>
        </p:spPr>
      </p:cxnSp>
      <p:sp>
        <p:nvSpPr>
          <p:cNvPr id="19" name="Google Shape;19;p3"/>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a:p>
        </p:txBody>
      </p:sp>
      <p:sp>
        <p:nvSpPr>
          <p:cNvPr id="20" name="Google Shape;20;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4"/>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7" name="Google Shape;27;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5"/>
          <p:cNvSpPr txBox="1">
            <a:spLocks noGrp="1"/>
          </p:cNvSpPr>
          <p:nvPr>
            <p:ph type="body" idx="1"/>
          </p:nvPr>
        </p:nvSpPr>
        <p:spPr>
          <a:xfrm>
            <a:off x="2400303" y="1602675"/>
            <a:ext cx="3071400" cy="3002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body" idx="2"/>
          </p:nvPr>
        </p:nvSpPr>
        <p:spPr>
          <a:xfrm>
            <a:off x="5650572" y="1602675"/>
            <a:ext cx="3071400" cy="3002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 name="Google Shape;38;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a:spLocks noGrp="1"/>
          </p:cNvSpPr>
          <p:nvPr>
            <p:ph type="title"/>
          </p:nvPr>
        </p:nvSpPr>
        <p:spPr>
          <a:xfrm>
            <a:off x="319500" y="936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2" name="Google Shape;42;p7"/>
          <p:cNvSpPr txBox="1">
            <a:spLocks noGrp="1"/>
          </p:cNvSpPr>
          <p:nvPr>
            <p:ph type="body" idx="1"/>
          </p:nvPr>
        </p:nvSpPr>
        <p:spPr>
          <a:xfrm>
            <a:off x="319500" y="1846804"/>
            <a:ext cx="2808000" cy="2806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3" name="Google Shape;4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283103" y="712141"/>
            <a:ext cx="6244200" cy="38355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47" name="Google Shape;47;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 name="Google Shape;5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a:endParaRPr/>
          </a:p>
        </p:txBody>
      </p:sp>
      <p:sp>
        <p:nvSpPr>
          <p:cNvPr id="52" name="Google Shape;52;p9"/>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4" name="Google Shape;54;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a:spLocks noGrp="1"/>
          </p:cNvSpPr>
          <p:nvPr>
            <p:ph type="body" idx="1"/>
          </p:nvPr>
        </p:nvSpPr>
        <p:spPr>
          <a:xfrm>
            <a:off x="328017" y="4226025"/>
            <a:ext cx="8388600" cy="3936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9" name="Google Shape;59;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425200" y="415650"/>
            <a:ext cx="82968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a:spLocks noGrp="1"/>
          </p:cNvSpPr>
          <p:nvPr>
            <p:ph type="title" hasCustomPrompt="1"/>
          </p:nvPr>
        </p:nvSpPr>
        <p:spPr>
          <a:xfrm>
            <a:off x="853950" y="1304850"/>
            <a:ext cx="74361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a:spLocks noGrp="1"/>
          </p:cNvSpPr>
          <p:nvPr>
            <p:ph type="body" idx="1"/>
          </p:nvPr>
        </p:nvSpPr>
        <p:spPr>
          <a:xfrm>
            <a:off x="853950" y="2919450"/>
            <a:ext cx="74361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5" name="Google Shape;65;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wiss-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400250" y="575950"/>
            <a:ext cx="6321600" cy="635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2410112" y="1595776"/>
            <a:ext cx="6321600" cy="3002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3"/>
          <p:cNvSpPr txBox="1">
            <a:spLocks noGrp="1"/>
          </p:cNvSpPr>
          <p:nvPr>
            <p:ph type="ctrTitle"/>
          </p:nvPr>
        </p:nvSpPr>
        <p:spPr>
          <a:xfrm>
            <a:off x="2371725" y="630225"/>
            <a:ext cx="5454000" cy="1542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Predicting Heart Disease Risk</a:t>
            </a:r>
            <a:endParaRPr dirty="0"/>
          </a:p>
        </p:txBody>
      </p:sp>
      <p:sp>
        <p:nvSpPr>
          <p:cNvPr id="73" name="Google Shape;73;p13"/>
          <p:cNvSpPr txBox="1">
            <a:spLocks noGrp="1"/>
          </p:cNvSpPr>
          <p:nvPr>
            <p:ph type="subTitle" idx="1"/>
          </p:nvPr>
        </p:nvSpPr>
        <p:spPr>
          <a:xfrm>
            <a:off x="2371725" y="2737801"/>
            <a:ext cx="6331500" cy="466950"/>
          </a:xfrm>
          <a:prstGeom prst="rect">
            <a:avLst/>
          </a:prstGeom>
        </p:spPr>
        <p:txBody>
          <a:bodyPr spcFirstLastPara="1" wrap="square" lIns="91425" tIns="91425" rIns="91425" bIns="91425" anchor="b" anchorCtr="0">
            <a:normAutofit/>
          </a:bodyPr>
          <a:lstStyle/>
          <a:p>
            <a:pPr marL="0" lvl="0" indent="0" rtl="0">
              <a:spcBef>
                <a:spcPts val="0"/>
              </a:spcBef>
              <a:spcAft>
                <a:spcPts val="0"/>
              </a:spcAft>
              <a:buNone/>
            </a:pPr>
            <a:r>
              <a:rPr lang="en" dirty="0"/>
              <a:t>Bilal Kudaimi</a:t>
            </a:r>
            <a:endParaRPr dirty="0"/>
          </a:p>
        </p:txBody>
      </p:sp>
    </p:spTree>
  </p:cSld>
  <p:clrMapOvr>
    <a:masterClrMapping/>
  </p:clrMapOvr>
  <mc:AlternateContent xmlns:mc="http://schemas.openxmlformats.org/markup-compatibility/2006" xmlns:p14="http://schemas.microsoft.com/office/powerpoint/2010/main">
    <mc:Choice Requires="p14">
      <p:transition spd="slow" p14:dur="2000" advTm="25274"/>
    </mc:Choice>
    <mc:Fallback xmlns="">
      <p:transition spd="slow" advTm="2527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Introduction/Problem</a:t>
            </a:r>
            <a:endParaRPr dirty="0"/>
          </a:p>
        </p:txBody>
      </p:sp>
      <p:sp>
        <p:nvSpPr>
          <p:cNvPr id="80" name="Google Shape;80;p14"/>
          <p:cNvSpPr txBox="1">
            <a:spLocks noGrp="1"/>
          </p:cNvSpPr>
          <p:nvPr>
            <p:ph type="body" idx="1"/>
          </p:nvPr>
        </p:nvSpPr>
        <p:spPr>
          <a:xfrm>
            <a:off x="2705100" y="1258175"/>
            <a:ext cx="6540900" cy="3002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dirty="0"/>
              <a:t>Heart disease claims 659,000 lives and $363B annually</a:t>
            </a:r>
          </a:p>
          <a:p>
            <a:pPr marL="914400" lvl="1" indent="-317500" algn="l" rtl="0">
              <a:spcBef>
                <a:spcPts val="0"/>
              </a:spcBef>
              <a:spcAft>
                <a:spcPts val="0"/>
              </a:spcAft>
              <a:buSzPts val="1400"/>
              <a:buChar char="○"/>
            </a:pPr>
            <a:r>
              <a:rPr lang="en-US" dirty="0"/>
              <a:t>Can it be identified before its onset?</a:t>
            </a:r>
          </a:p>
        </p:txBody>
      </p:sp>
      <p:pic>
        <p:nvPicPr>
          <p:cNvPr id="2050" name="Picture 2" descr="11 Strange Heart Disease Causes and Risk Factors">
            <a:extLst>
              <a:ext uri="{FF2B5EF4-FFF2-40B4-BE49-F238E27FC236}">
                <a16:creationId xmlns:a16="http://schemas.microsoft.com/office/drawing/2014/main" id="{41340004-A0E4-1CA2-BE6A-49480BD848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250" y="2319415"/>
            <a:ext cx="3691973" cy="19879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34723"/>
    </mc:Choice>
    <mc:Fallback xmlns="">
      <p:transition spd="slow" advTm="3472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Solution</a:t>
            </a:r>
            <a:endParaRPr dirty="0"/>
          </a:p>
        </p:txBody>
      </p:sp>
      <p:sp>
        <p:nvSpPr>
          <p:cNvPr id="89" name="Google Shape;89;p15"/>
          <p:cNvSpPr txBox="1">
            <a:spLocks noGrp="1"/>
          </p:cNvSpPr>
          <p:nvPr>
            <p:ph type="body" idx="1"/>
          </p:nvPr>
        </p:nvSpPr>
        <p:spPr>
          <a:xfrm>
            <a:off x="2400250" y="1211350"/>
            <a:ext cx="6681600" cy="3002400"/>
          </a:xfrm>
          <a:prstGeom prst="rect">
            <a:avLst/>
          </a:prstGeom>
        </p:spPr>
        <p:txBody>
          <a:bodyPr spcFirstLastPara="1" wrap="square" lIns="91425" tIns="91425" rIns="91425" bIns="91425" anchor="t" anchorCtr="0">
            <a:normAutofit/>
          </a:bodyPr>
          <a:lstStyle/>
          <a:p>
            <a:r>
              <a:rPr lang="en-US" dirty="0"/>
              <a:t>Patient info can accurately predict heart disease</a:t>
            </a:r>
            <a:endParaRPr lang="en" dirty="0"/>
          </a:p>
          <a:p>
            <a:pPr marL="457200" lvl="0" indent="-342900" algn="l" rtl="0">
              <a:spcBef>
                <a:spcPts val="0"/>
              </a:spcBef>
              <a:spcAft>
                <a:spcPts val="0"/>
              </a:spcAft>
              <a:buSzPts val="1800"/>
              <a:buChar char="●"/>
            </a:pPr>
            <a:r>
              <a:rPr lang="en-US" dirty="0"/>
              <a:t>A machine learning model will be used</a:t>
            </a:r>
            <a:endParaRPr dirty="0"/>
          </a:p>
          <a:p>
            <a:pPr marL="914400" lvl="1" indent="-317500" algn="l" rtl="0">
              <a:spcBef>
                <a:spcPts val="0"/>
              </a:spcBef>
              <a:spcAft>
                <a:spcPts val="0"/>
              </a:spcAft>
              <a:buSzPts val="1400"/>
              <a:buChar char="○"/>
            </a:pPr>
            <a:r>
              <a:rPr lang="en" dirty="0"/>
              <a:t>Random forest classifier</a:t>
            </a:r>
          </a:p>
          <a:p>
            <a:pPr marL="914400" lvl="1" indent="-317500" algn="l" rtl="0">
              <a:spcBef>
                <a:spcPts val="0"/>
              </a:spcBef>
              <a:spcAft>
                <a:spcPts val="0"/>
              </a:spcAft>
              <a:buSzPts val="1400"/>
              <a:buChar char="○"/>
            </a:pPr>
            <a:endParaRPr lang="en" dirty="0"/>
          </a:p>
        </p:txBody>
      </p:sp>
      <p:sp>
        <p:nvSpPr>
          <p:cNvPr id="90" name="Google Shape;90;p15"/>
          <p:cNvSpPr txBox="1"/>
          <p:nvPr/>
        </p:nvSpPr>
        <p:spPr>
          <a:xfrm>
            <a:off x="6269300" y="3325000"/>
            <a:ext cx="2812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latin typeface="Lato"/>
              <a:ea typeface="Lato"/>
              <a:cs typeface="Lato"/>
              <a:sym typeface="Lato"/>
            </a:endParaRPr>
          </a:p>
        </p:txBody>
      </p:sp>
      <p:pic>
        <p:nvPicPr>
          <p:cNvPr id="3074" name="Picture 2" descr="Random forest - Wikipedia">
            <a:extLst>
              <a:ext uri="{FF2B5EF4-FFF2-40B4-BE49-F238E27FC236}">
                <a16:creationId xmlns:a16="http://schemas.microsoft.com/office/drawing/2014/main" id="{E2437E39-94C4-F3DD-C976-80C2387C90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250" y="2153782"/>
            <a:ext cx="3384324" cy="2534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25900"/>
    </mc:Choice>
    <mc:Fallback xmlns="">
      <p:transition spd="slow" advTm="259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7A5DF-52D4-424A-B3B3-56863137FD4D}"/>
              </a:ext>
            </a:extLst>
          </p:cNvPr>
          <p:cNvSpPr>
            <a:spLocks noGrp="1"/>
          </p:cNvSpPr>
          <p:nvPr>
            <p:ph type="title"/>
          </p:nvPr>
        </p:nvSpPr>
        <p:spPr/>
        <p:txBody>
          <a:bodyPr>
            <a:normAutofit fontScale="90000"/>
          </a:bodyPr>
          <a:lstStyle/>
          <a:p>
            <a:r>
              <a:rPr lang="en-US" dirty="0"/>
              <a:t>Ethical Considerations</a:t>
            </a:r>
          </a:p>
        </p:txBody>
      </p:sp>
      <p:sp>
        <p:nvSpPr>
          <p:cNvPr id="3" name="Text Placeholder 2">
            <a:extLst>
              <a:ext uri="{FF2B5EF4-FFF2-40B4-BE49-F238E27FC236}">
                <a16:creationId xmlns:a16="http://schemas.microsoft.com/office/drawing/2014/main" id="{2DAFFCB6-402F-4849-84CE-4E0E1E424009}"/>
              </a:ext>
            </a:extLst>
          </p:cNvPr>
          <p:cNvSpPr>
            <a:spLocks noGrp="1"/>
          </p:cNvSpPr>
          <p:nvPr>
            <p:ph type="body" idx="1"/>
          </p:nvPr>
        </p:nvSpPr>
        <p:spPr>
          <a:xfrm>
            <a:off x="2279733" y="1359720"/>
            <a:ext cx="6368852" cy="2961363"/>
          </a:xfrm>
        </p:spPr>
        <p:txBody>
          <a:bodyPr/>
          <a:lstStyle/>
          <a:p>
            <a:r>
              <a:rPr lang="en-US" dirty="0"/>
              <a:t>One of the first things considered</a:t>
            </a:r>
          </a:p>
          <a:p>
            <a:r>
              <a:rPr lang="en-US" dirty="0"/>
              <a:t>Insurance may abuse the model</a:t>
            </a:r>
          </a:p>
        </p:txBody>
      </p:sp>
      <p:pic>
        <p:nvPicPr>
          <p:cNvPr id="1026" name="Picture 2" descr="Insurance Data Science Conference">
            <a:extLst>
              <a:ext uri="{FF2B5EF4-FFF2-40B4-BE49-F238E27FC236}">
                <a16:creationId xmlns:a16="http://schemas.microsoft.com/office/drawing/2014/main" id="{60423AEB-6A0A-7FAC-7955-D77BCC90A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9460" y="2126973"/>
            <a:ext cx="3489368" cy="2584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926084"/>
      </p:ext>
    </p:extLst>
  </p:cSld>
  <p:clrMapOvr>
    <a:masterClrMapping/>
  </p:clrMapOvr>
  <mc:AlternateContent xmlns:mc="http://schemas.openxmlformats.org/markup-compatibility/2006" xmlns:p14="http://schemas.microsoft.com/office/powerpoint/2010/main">
    <mc:Choice Requires="p14">
      <p:transition spd="slow" p14:dur="2000" advTm="39971"/>
    </mc:Choice>
    <mc:Fallback xmlns="">
      <p:transition spd="slow" advTm="3997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2BC13-8E00-4A20-992B-3794092113EB}"/>
              </a:ext>
            </a:extLst>
          </p:cNvPr>
          <p:cNvSpPr>
            <a:spLocks noGrp="1"/>
          </p:cNvSpPr>
          <p:nvPr>
            <p:ph type="title"/>
          </p:nvPr>
        </p:nvSpPr>
        <p:spPr/>
        <p:txBody>
          <a:bodyPr>
            <a:normAutofit fontScale="90000"/>
          </a:bodyPr>
          <a:lstStyle/>
          <a:p>
            <a:r>
              <a:rPr lang="en-US" dirty="0"/>
              <a:t>Dataset</a:t>
            </a:r>
          </a:p>
        </p:txBody>
      </p:sp>
      <p:sp>
        <p:nvSpPr>
          <p:cNvPr id="3" name="Text Placeholder 2">
            <a:extLst>
              <a:ext uri="{FF2B5EF4-FFF2-40B4-BE49-F238E27FC236}">
                <a16:creationId xmlns:a16="http://schemas.microsoft.com/office/drawing/2014/main" id="{8DF5E217-813A-4428-A4F6-1BB12C0D8BD3}"/>
              </a:ext>
            </a:extLst>
          </p:cNvPr>
          <p:cNvSpPr>
            <a:spLocks noGrp="1"/>
          </p:cNvSpPr>
          <p:nvPr>
            <p:ph type="body" idx="1"/>
          </p:nvPr>
        </p:nvSpPr>
        <p:spPr/>
        <p:txBody>
          <a:bodyPr/>
          <a:lstStyle/>
          <a:p>
            <a:endParaRPr lang="en-US" dirty="0"/>
          </a:p>
        </p:txBody>
      </p:sp>
      <p:pic>
        <p:nvPicPr>
          <p:cNvPr id="9" name="Picture 8">
            <a:extLst>
              <a:ext uri="{FF2B5EF4-FFF2-40B4-BE49-F238E27FC236}">
                <a16:creationId xmlns:a16="http://schemas.microsoft.com/office/drawing/2014/main" id="{5AB114F8-16B6-7287-915C-7799FE064ABA}"/>
              </a:ext>
            </a:extLst>
          </p:cNvPr>
          <p:cNvPicPr>
            <a:picLocks noChangeAspect="1"/>
          </p:cNvPicPr>
          <p:nvPr/>
        </p:nvPicPr>
        <p:blipFill>
          <a:blip r:embed="rId3"/>
          <a:stretch>
            <a:fillRect/>
          </a:stretch>
        </p:blipFill>
        <p:spPr>
          <a:xfrm>
            <a:off x="0" y="1211350"/>
            <a:ext cx="9144000" cy="1110953"/>
          </a:xfrm>
          <a:prstGeom prst="rect">
            <a:avLst/>
          </a:prstGeom>
        </p:spPr>
      </p:pic>
    </p:spTree>
    <p:extLst>
      <p:ext uri="{BB962C8B-B14F-4D97-AF65-F5344CB8AC3E}">
        <p14:creationId xmlns:p14="http://schemas.microsoft.com/office/powerpoint/2010/main" val="537152544"/>
      </p:ext>
    </p:extLst>
  </p:cSld>
  <p:clrMapOvr>
    <a:masterClrMapping/>
  </p:clrMapOvr>
  <mc:AlternateContent xmlns:mc="http://schemas.openxmlformats.org/markup-compatibility/2006" xmlns:p14="http://schemas.microsoft.com/office/powerpoint/2010/main">
    <mc:Choice Requires="p14">
      <p:transition spd="slow" p14:dur="2000" advTm="30149"/>
    </mc:Choice>
    <mc:Fallback xmlns="">
      <p:transition spd="slow" advTm="3014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Procedure for Analysis</a:t>
            </a:r>
            <a:endParaRPr dirty="0"/>
          </a:p>
        </p:txBody>
      </p:sp>
      <p:sp>
        <p:nvSpPr>
          <p:cNvPr id="99" name="Google Shape;99;p16"/>
          <p:cNvSpPr txBox="1">
            <a:spLocks noGrp="1"/>
          </p:cNvSpPr>
          <p:nvPr>
            <p:ph type="body" idx="1"/>
          </p:nvPr>
        </p:nvSpPr>
        <p:spPr>
          <a:xfrm>
            <a:off x="3254877" y="1274300"/>
            <a:ext cx="5466900" cy="3002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US" sz="2000" dirty="0"/>
              <a:t>Three steps need to be done:</a:t>
            </a:r>
          </a:p>
          <a:p>
            <a:pPr lvl="1" indent="-355600">
              <a:buSzPts val="2000"/>
              <a:buChar char="●"/>
            </a:pPr>
            <a:r>
              <a:rPr lang="en-US" sz="1600" dirty="0"/>
              <a:t>Data preparation</a:t>
            </a:r>
          </a:p>
          <a:p>
            <a:pPr lvl="1" indent="-355600">
              <a:buSzPts val="2000"/>
              <a:buChar char="●"/>
            </a:pPr>
            <a:r>
              <a:rPr lang="en-US" sz="1600" dirty="0"/>
              <a:t>Exploratory data analysis</a:t>
            </a:r>
          </a:p>
          <a:p>
            <a:pPr lvl="1" indent="-355600">
              <a:buSzPts val="2000"/>
              <a:buChar char="●"/>
            </a:pPr>
            <a:r>
              <a:rPr lang="en-US" sz="1600" dirty="0"/>
              <a:t>Model training/testing</a:t>
            </a:r>
          </a:p>
          <a:p>
            <a:pPr marL="0" lvl="0" indent="0" algn="l" rtl="0">
              <a:spcBef>
                <a:spcPts val="1200"/>
              </a:spcBef>
              <a:spcAft>
                <a:spcPts val="1200"/>
              </a:spcAft>
              <a:buNone/>
            </a:pPr>
            <a:endParaRPr dirty="0"/>
          </a:p>
        </p:txBody>
      </p:sp>
      <p:pic>
        <p:nvPicPr>
          <p:cNvPr id="100" name="Google Shape;100;p16" descr="CRISP-DM - Data Science Process Alliance"/>
          <p:cNvPicPr preferRelativeResize="0"/>
          <p:nvPr/>
        </p:nvPicPr>
        <p:blipFill>
          <a:blip r:embed="rId3">
            <a:alphaModFix/>
          </a:blip>
          <a:stretch>
            <a:fillRect/>
          </a:stretch>
        </p:blipFill>
        <p:spPr>
          <a:xfrm>
            <a:off x="0" y="1211350"/>
            <a:ext cx="3774350" cy="30881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Tm="28942"/>
    </mc:Choice>
    <mc:Fallback xmlns="">
      <p:transition spd="slow" advTm="2894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1: Data Preparation</a:t>
            </a:r>
            <a:endParaRPr/>
          </a:p>
        </p:txBody>
      </p:sp>
      <p:sp>
        <p:nvSpPr>
          <p:cNvPr id="107" name="Google Shape;107;p17"/>
          <p:cNvSpPr txBox="1">
            <a:spLocks noGrp="1"/>
          </p:cNvSpPr>
          <p:nvPr>
            <p:ph type="body" idx="1"/>
          </p:nvPr>
        </p:nvSpPr>
        <p:spPr>
          <a:xfrm>
            <a:off x="2134175" y="1138575"/>
            <a:ext cx="6597600" cy="3002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dirty="0"/>
              <a:t>Organizing or “cleaning” the </a:t>
            </a:r>
            <a:r>
              <a:rPr lang="en-US" sz="2000" dirty="0"/>
              <a:t>data</a:t>
            </a:r>
            <a:endParaRPr sz="2000" dirty="0"/>
          </a:p>
          <a:p>
            <a:pPr marL="914400" lvl="1" indent="-330200" algn="l" rtl="0">
              <a:spcBef>
                <a:spcPts val="0"/>
              </a:spcBef>
              <a:spcAft>
                <a:spcPts val="0"/>
              </a:spcAft>
              <a:buSzPts val="1600"/>
              <a:buChar char="○"/>
            </a:pPr>
            <a:r>
              <a:rPr lang="en-US" sz="1600" dirty="0"/>
              <a:t>Checking for N/A values</a:t>
            </a:r>
          </a:p>
          <a:p>
            <a:pPr marL="914400" lvl="1" indent="-330200" algn="l" rtl="0">
              <a:spcBef>
                <a:spcPts val="0"/>
              </a:spcBef>
              <a:spcAft>
                <a:spcPts val="0"/>
              </a:spcAft>
              <a:buSzPts val="1600"/>
              <a:buChar char="○"/>
            </a:pPr>
            <a:r>
              <a:rPr lang="en-US" sz="1600" dirty="0"/>
              <a:t>Replacing strings with integers</a:t>
            </a:r>
            <a:endParaRPr sz="1600" dirty="0"/>
          </a:p>
          <a:p>
            <a:pPr marL="914400" lvl="1" indent="-330200" algn="l" rtl="0">
              <a:spcBef>
                <a:spcPts val="0"/>
              </a:spcBef>
              <a:spcAft>
                <a:spcPts val="0"/>
              </a:spcAft>
              <a:buSzPts val="1600"/>
              <a:buChar char="○"/>
            </a:pPr>
            <a:r>
              <a:rPr lang="en-US" sz="1600" dirty="0"/>
              <a:t>Oversampling</a:t>
            </a:r>
            <a:endParaRPr sz="1600" dirty="0"/>
          </a:p>
        </p:txBody>
      </p:sp>
      <p:pic>
        <p:nvPicPr>
          <p:cNvPr id="1026" name="Picture 2" descr="What is Data Preparation? (+ How to Make It Easier) - Talend | Talend">
            <a:extLst>
              <a:ext uri="{FF2B5EF4-FFF2-40B4-BE49-F238E27FC236}">
                <a16:creationId xmlns:a16="http://schemas.microsoft.com/office/drawing/2014/main" id="{B3D7513F-D012-C3F4-7016-0BCC4AA977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331458"/>
            <a:ext cx="4505118" cy="23721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38115"/>
    </mc:Choice>
    <mc:Fallback xmlns="">
      <p:transition spd="slow" advTm="3811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3535050" y="357398"/>
            <a:ext cx="2073900" cy="635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Part 2: EDA</a:t>
            </a:r>
            <a:endParaRPr dirty="0"/>
          </a:p>
        </p:txBody>
      </p:sp>
      <p:sp>
        <p:nvSpPr>
          <p:cNvPr id="115" name="Google Shape;115;p18"/>
          <p:cNvSpPr txBox="1">
            <a:spLocks noGrp="1"/>
          </p:cNvSpPr>
          <p:nvPr>
            <p:ph type="body" idx="1"/>
          </p:nvPr>
        </p:nvSpPr>
        <p:spPr>
          <a:xfrm>
            <a:off x="2892286" y="938489"/>
            <a:ext cx="4008163" cy="514217"/>
          </a:xfrm>
          <a:prstGeom prst="rect">
            <a:avLst/>
          </a:prstGeom>
        </p:spPr>
        <p:txBody>
          <a:bodyPr spcFirstLastPara="1" wrap="square" lIns="91425" tIns="91425" rIns="91425" bIns="91425" anchor="t" anchorCtr="0">
            <a:normAutofit/>
          </a:bodyPr>
          <a:lstStyle/>
          <a:p>
            <a:pPr marL="114300" lvl="0" indent="0" algn="l" rtl="0">
              <a:spcBef>
                <a:spcPts val="0"/>
              </a:spcBef>
              <a:spcAft>
                <a:spcPts val="0"/>
              </a:spcAft>
              <a:buSzPts val="1800"/>
              <a:buNone/>
            </a:pPr>
            <a:endParaRPr dirty="0"/>
          </a:p>
        </p:txBody>
      </p:sp>
      <p:pic>
        <p:nvPicPr>
          <p:cNvPr id="2050" name="Picture 2">
            <a:extLst>
              <a:ext uri="{FF2B5EF4-FFF2-40B4-BE49-F238E27FC236}">
                <a16:creationId xmlns:a16="http://schemas.microsoft.com/office/drawing/2014/main" id="{24EC9736-3268-8F0B-0EFE-F3E0A122F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77" y="1249618"/>
            <a:ext cx="3829050" cy="30765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6EFA7E4-4D82-162A-9FBB-85E4F5885D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5227" y="1141580"/>
            <a:ext cx="5222596" cy="34957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37231"/>
    </mc:Choice>
    <mc:Fallback xmlns="">
      <p:transition spd="slow" advTm="3723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Part 3: Model Training/Testing</a:t>
            </a:r>
            <a:endParaRPr dirty="0"/>
          </a:p>
        </p:txBody>
      </p:sp>
      <p:sp>
        <p:nvSpPr>
          <p:cNvPr id="126" name="Google Shape;126;p19"/>
          <p:cNvSpPr txBox="1">
            <a:spLocks noGrp="1"/>
          </p:cNvSpPr>
          <p:nvPr>
            <p:ph type="body" idx="1"/>
          </p:nvPr>
        </p:nvSpPr>
        <p:spPr>
          <a:xfrm>
            <a:off x="2072750" y="1138575"/>
            <a:ext cx="6658800" cy="28995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Random forest classifier (20% data used for testing)</a:t>
            </a:r>
          </a:p>
          <a:p>
            <a:pPr marL="914400" lvl="0" indent="0" algn="l" rtl="0">
              <a:spcBef>
                <a:spcPts val="1200"/>
              </a:spcBef>
              <a:spcAft>
                <a:spcPts val="1200"/>
              </a:spcAft>
              <a:buNone/>
            </a:pPr>
            <a:endParaRPr dirty="0"/>
          </a:p>
        </p:txBody>
      </p:sp>
      <p:sp>
        <p:nvSpPr>
          <p:cNvPr id="127" name="Google Shape;127;p19"/>
          <p:cNvSpPr txBox="1"/>
          <p:nvPr/>
        </p:nvSpPr>
        <p:spPr>
          <a:xfrm>
            <a:off x="2841875" y="1976000"/>
            <a:ext cx="426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Lato"/>
              <a:ea typeface="Lato"/>
              <a:cs typeface="Lato"/>
              <a:sym typeface="Lato"/>
            </a:endParaRPr>
          </a:p>
        </p:txBody>
      </p:sp>
      <p:graphicFrame>
        <p:nvGraphicFramePr>
          <p:cNvPr id="2" name="Table 3">
            <a:extLst>
              <a:ext uri="{FF2B5EF4-FFF2-40B4-BE49-F238E27FC236}">
                <a16:creationId xmlns:a16="http://schemas.microsoft.com/office/drawing/2014/main" id="{4367085F-C441-84E9-8310-9FCFBD70277D}"/>
              </a:ext>
            </a:extLst>
          </p:cNvPr>
          <p:cNvGraphicFramePr>
            <a:graphicFrameLocks noGrp="1"/>
          </p:cNvGraphicFramePr>
          <p:nvPr>
            <p:extLst>
              <p:ext uri="{D42A27DB-BD31-4B8C-83A1-F6EECF244321}">
                <p14:modId xmlns:p14="http://schemas.microsoft.com/office/powerpoint/2010/main" val="1879514581"/>
              </p:ext>
            </p:extLst>
          </p:nvPr>
        </p:nvGraphicFramePr>
        <p:xfrm>
          <a:off x="2039425" y="1773975"/>
          <a:ext cx="4619791" cy="741680"/>
        </p:xfrm>
        <a:graphic>
          <a:graphicData uri="http://schemas.openxmlformats.org/drawingml/2006/table">
            <a:tbl>
              <a:tblPr firstRow="1" bandRow="1">
                <a:tableStyleId>{6BBA0CF3-2211-4D98-9032-A676FA1964EA}</a:tableStyleId>
              </a:tblPr>
              <a:tblGrid>
                <a:gridCol w="2758053">
                  <a:extLst>
                    <a:ext uri="{9D8B030D-6E8A-4147-A177-3AD203B41FA5}">
                      <a16:colId xmlns:a16="http://schemas.microsoft.com/office/drawing/2014/main" val="841157961"/>
                    </a:ext>
                  </a:extLst>
                </a:gridCol>
                <a:gridCol w="913441">
                  <a:extLst>
                    <a:ext uri="{9D8B030D-6E8A-4147-A177-3AD203B41FA5}">
                      <a16:colId xmlns:a16="http://schemas.microsoft.com/office/drawing/2014/main" val="2685743825"/>
                    </a:ext>
                  </a:extLst>
                </a:gridCol>
                <a:gridCol w="948297">
                  <a:extLst>
                    <a:ext uri="{9D8B030D-6E8A-4147-A177-3AD203B41FA5}">
                      <a16:colId xmlns:a16="http://schemas.microsoft.com/office/drawing/2014/main" val="603671822"/>
                    </a:ext>
                  </a:extLst>
                </a:gridCol>
              </a:tblGrid>
              <a:tr h="370840">
                <a:tc>
                  <a:txBody>
                    <a:bodyPr/>
                    <a:lstStyle/>
                    <a:p>
                      <a:endParaRPr lang="en-US"/>
                    </a:p>
                  </a:txBody>
                  <a:tcPr/>
                </a:tc>
                <a:tc>
                  <a:txBody>
                    <a:bodyPr/>
                    <a:lstStyle/>
                    <a:p>
                      <a:r>
                        <a:rPr lang="en-US" dirty="0"/>
                        <a:t>Accuracy</a:t>
                      </a:r>
                    </a:p>
                  </a:txBody>
                  <a:tcPr/>
                </a:tc>
                <a:tc>
                  <a:txBody>
                    <a:bodyPr/>
                    <a:lstStyle/>
                    <a:p>
                      <a:r>
                        <a:rPr lang="en-US" dirty="0"/>
                        <a:t>Precision</a:t>
                      </a:r>
                    </a:p>
                  </a:txBody>
                  <a:tcPr/>
                </a:tc>
                <a:extLst>
                  <a:ext uri="{0D108BD9-81ED-4DB2-BD59-A6C34878D82A}">
                    <a16:rowId xmlns:a16="http://schemas.microsoft.com/office/drawing/2014/main" val="2390831394"/>
                  </a:ext>
                </a:extLst>
              </a:tr>
              <a:tr h="370840">
                <a:tc>
                  <a:txBody>
                    <a:bodyPr/>
                    <a:lstStyle/>
                    <a:p>
                      <a:r>
                        <a:rPr lang="en-US" dirty="0"/>
                        <a:t>Random Forest Classifier</a:t>
                      </a:r>
                    </a:p>
                  </a:txBody>
                  <a:tcPr/>
                </a:tc>
                <a:tc>
                  <a:txBody>
                    <a:bodyPr/>
                    <a:lstStyle/>
                    <a:p>
                      <a:r>
                        <a:rPr lang="en-US" dirty="0"/>
                        <a:t>96.9%</a:t>
                      </a:r>
                    </a:p>
                  </a:txBody>
                  <a:tcPr/>
                </a:tc>
                <a:tc>
                  <a:txBody>
                    <a:bodyPr/>
                    <a:lstStyle/>
                    <a:p>
                      <a:r>
                        <a:rPr lang="en-US" dirty="0"/>
                        <a:t>94.2%</a:t>
                      </a:r>
                    </a:p>
                  </a:txBody>
                  <a:tcPr/>
                </a:tc>
                <a:extLst>
                  <a:ext uri="{0D108BD9-81ED-4DB2-BD59-A6C34878D82A}">
                    <a16:rowId xmlns:a16="http://schemas.microsoft.com/office/drawing/2014/main" val="237391469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37185"/>
    </mc:Choice>
    <mc:Fallback xmlns="">
      <p:transition spd="slow" advTm="3718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9653A-D5BB-4FB2-844F-5BE6D77DC719}"/>
              </a:ext>
            </a:extLst>
          </p:cNvPr>
          <p:cNvSpPr>
            <a:spLocks noGrp="1"/>
          </p:cNvSpPr>
          <p:nvPr>
            <p:ph type="title"/>
          </p:nvPr>
        </p:nvSpPr>
        <p:spPr/>
        <p:txBody>
          <a:bodyPr>
            <a:normAutofit fontScale="90000"/>
          </a:bodyPr>
          <a:lstStyle/>
          <a:p>
            <a:r>
              <a:rPr lang="en-US" dirty="0"/>
              <a:t>Assumptions</a:t>
            </a:r>
          </a:p>
        </p:txBody>
      </p:sp>
      <p:sp>
        <p:nvSpPr>
          <p:cNvPr id="3" name="Text Placeholder 2">
            <a:extLst>
              <a:ext uri="{FF2B5EF4-FFF2-40B4-BE49-F238E27FC236}">
                <a16:creationId xmlns:a16="http://schemas.microsoft.com/office/drawing/2014/main" id="{AF80D652-1711-4B13-8438-E8CF81322070}"/>
              </a:ext>
            </a:extLst>
          </p:cNvPr>
          <p:cNvSpPr>
            <a:spLocks noGrp="1"/>
          </p:cNvSpPr>
          <p:nvPr>
            <p:ph type="body" idx="1"/>
          </p:nvPr>
        </p:nvSpPr>
        <p:spPr>
          <a:xfrm>
            <a:off x="2410112" y="1315540"/>
            <a:ext cx="6321600" cy="3002400"/>
          </a:xfrm>
        </p:spPr>
        <p:txBody>
          <a:bodyPr/>
          <a:lstStyle/>
          <a:p>
            <a:r>
              <a:rPr lang="en-US" dirty="0"/>
              <a:t>A few assumptions were made to proceed:</a:t>
            </a:r>
          </a:p>
          <a:p>
            <a:pPr lvl="1"/>
            <a:r>
              <a:rPr lang="en-US" dirty="0"/>
              <a:t>Heart disease is one disease</a:t>
            </a:r>
          </a:p>
          <a:p>
            <a:pPr lvl="1"/>
            <a:r>
              <a:rPr lang="en-US" dirty="0"/>
              <a:t>BRFSS answered correctly</a:t>
            </a:r>
          </a:p>
        </p:txBody>
      </p:sp>
      <p:pic>
        <p:nvPicPr>
          <p:cNvPr id="3074" name="Picture 2" descr="BRFSS Demystified - SparkMap">
            <a:extLst>
              <a:ext uri="{FF2B5EF4-FFF2-40B4-BE49-F238E27FC236}">
                <a16:creationId xmlns:a16="http://schemas.microsoft.com/office/drawing/2014/main" id="{01B49C59-1438-284D-075C-CD94C780B8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074" y="2218911"/>
            <a:ext cx="3289852" cy="2467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68037"/>
      </p:ext>
    </p:extLst>
  </p:cSld>
  <p:clrMapOvr>
    <a:masterClrMapping/>
  </p:clrMapOvr>
  <mc:AlternateContent xmlns:mc="http://schemas.openxmlformats.org/markup-compatibility/2006" xmlns:p14="http://schemas.microsoft.com/office/powerpoint/2010/main">
    <mc:Choice Requires="p14">
      <p:transition spd="slow" p14:dur="2000" advTm="34839"/>
    </mc:Choice>
    <mc:Fallback xmlns="">
      <p:transition spd="slow" advTm="3483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0"/>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Challenges Encountered</a:t>
            </a:r>
            <a:endParaRPr dirty="0"/>
          </a:p>
        </p:txBody>
      </p:sp>
      <p:sp>
        <p:nvSpPr>
          <p:cNvPr id="135" name="Google Shape;135;p20"/>
          <p:cNvSpPr txBox="1">
            <a:spLocks noGrp="1"/>
          </p:cNvSpPr>
          <p:nvPr>
            <p:ph type="body" idx="1"/>
          </p:nvPr>
        </p:nvSpPr>
        <p:spPr>
          <a:xfrm>
            <a:off x="2410100" y="1309925"/>
            <a:ext cx="6321600" cy="3288300"/>
          </a:xfrm>
          <a:prstGeom prst="rect">
            <a:avLst/>
          </a:prstGeom>
        </p:spPr>
        <p:txBody>
          <a:bodyPr spcFirstLastPara="1" wrap="square" lIns="91425" tIns="91425" rIns="91425" bIns="91425" anchor="t" anchorCtr="0">
            <a:normAutofit/>
          </a:bodyPr>
          <a:lstStyle/>
          <a:p>
            <a:pPr marL="285750" indent="-285750"/>
            <a:r>
              <a:rPr lang="en-US" sz="1800" b="0" i="0" u="none" strike="noStrike" baseline="0" dirty="0">
                <a:solidFill>
                  <a:srgbClr val="000000"/>
                </a:solidFill>
                <a:latin typeface="Arial" panose="020B0604020202020204" pitchFamily="34" charset="0"/>
              </a:rPr>
              <a:t>This </a:t>
            </a:r>
            <a:r>
              <a:rPr lang="en-US" dirty="0">
                <a:solidFill>
                  <a:srgbClr val="000000"/>
                </a:solidFill>
                <a:latin typeface="Arial" panose="020B0604020202020204" pitchFamily="34" charset="0"/>
              </a:rPr>
              <a:t>model wasn’t without its challenges</a:t>
            </a:r>
          </a:p>
          <a:p>
            <a:pPr marL="742950" lvl="1" indent="-285750"/>
            <a:r>
              <a:rPr lang="en-US" b="0" i="0" u="none" strike="noStrike" baseline="0" dirty="0">
                <a:solidFill>
                  <a:srgbClr val="000000"/>
                </a:solidFill>
                <a:latin typeface="Arial" panose="020B0604020202020204" pitchFamily="34" charset="0"/>
              </a:rPr>
              <a:t>Ma</a:t>
            </a:r>
            <a:r>
              <a:rPr lang="en-US" dirty="0">
                <a:solidFill>
                  <a:srgbClr val="000000"/>
                </a:solidFill>
                <a:latin typeface="Arial" panose="020B0604020202020204" pitchFamily="34" charset="0"/>
              </a:rPr>
              <a:t>ny models cycled before random forest</a:t>
            </a:r>
            <a:r>
              <a:rPr lang="en-US" b="0" i="0" u="none" strike="noStrike" baseline="0" dirty="0">
                <a:solidFill>
                  <a:srgbClr val="000000"/>
                </a:solidFill>
                <a:latin typeface="Arial" panose="020B0604020202020204" pitchFamily="34" charset="0"/>
              </a:rPr>
              <a:t> </a:t>
            </a:r>
          </a:p>
          <a:p>
            <a:pPr marL="742950" lvl="1" indent="-285750"/>
            <a:r>
              <a:rPr lang="en-US" dirty="0">
                <a:solidFill>
                  <a:srgbClr val="000000"/>
                </a:solidFill>
                <a:latin typeface="Arial" panose="020B0604020202020204" pitchFamily="34" charset="0"/>
              </a:rPr>
              <a:t>Power limitations</a:t>
            </a:r>
          </a:p>
          <a:p>
            <a:pPr marL="742950" lvl="1" indent="-285750"/>
            <a:endParaRPr dirty="0"/>
          </a:p>
        </p:txBody>
      </p:sp>
      <p:pic>
        <p:nvPicPr>
          <p:cNvPr id="4098" name="Picture 2" descr="cycle icon vector">
            <a:extLst>
              <a:ext uri="{FF2B5EF4-FFF2-40B4-BE49-F238E27FC236}">
                <a16:creationId xmlns:a16="http://schemas.microsoft.com/office/drawing/2014/main" id="{157C92D7-0810-8BB5-B2C7-91F1CB5545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925" y="245510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2618"/>
    </mc:Choice>
    <mc:Fallback xmlns="">
      <p:transition spd="slow" advTm="4261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2"/>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Future Model Uses</a:t>
            </a:r>
            <a:endParaRPr dirty="0"/>
          </a:p>
        </p:txBody>
      </p:sp>
      <p:sp>
        <p:nvSpPr>
          <p:cNvPr id="163" name="Google Shape;163;p22"/>
          <p:cNvSpPr txBox="1">
            <a:spLocks noGrp="1"/>
          </p:cNvSpPr>
          <p:nvPr>
            <p:ph type="body" idx="1"/>
          </p:nvPr>
        </p:nvSpPr>
        <p:spPr>
          <a:xfrm>
            <a:off x="2471650" y="1145892"/>
            <a:ext cx="6250200" cy="3835800"/>
          </a:xfrm>
          <a:prstGeom prst="rect">
            <a:avLst/>
          </a:prstGeom>
        </p:spPr>
        <p:txBody>
          <a:bodyPr spcFirstLastPara="1" wrap="square" lIns="91425" tIns="91425" rIns="91425" bIns="91425" anchor="t" anchorCtr="0">
            <a:normAutofit/>
          </a:bodyPr>
          <a:lstStyle/>
          <a:p>
            <a:pPr marL="0" lvl="0" indent="0" rtl="0">
              <a:spcBef>
                <a:spcPts val="1200"/>
              </a:spcBef>
              <a:spcAft>
                <a:spcPts val="0"/>
              </a:spcAft>
              <a:buNone/>
            </a:pPr>
            <a:r>
              <a:rPr lang="en" dirty="0"/>
              <a:t>The model has a few other uses in the future:</a:t>
            </a:r>
            <a:endParaRPr dirty="0"/>
          </a:p>
          <a:p>
            <a:pPr marL="0" lvl="0" indent="0" algn="ctr" rtl="0">
              <a:spcBef>
                <a:spcPts val="1200"/>
              </a:spcBef>
              <a:spcAft>
                <a:spcPts val="0"/>
              </a:spcAft>
              <a:buNone/>
            </a:pPr>
            <a:endParaRPr dirty="0"/>
          </a:p>
          <a:p>
            <a:pPr marL="0" lvl="0" indent="0" algn="ctr" rtl="0">
              <a:spcBef>
                <a:spcPts val="1200"/>
              </a:spcBef>
              <a:spcAft>
                <a:spcPts val="0"/>
              </a:spcAft>
              <a:buNone/>
            </a:pPr>
            <a:endParaRPr dirty="0"/>
          </a:p>
          <a:p>
            <a:pPr marL="0" lvl="0" indent="0" algn="ctr" rtl="0">
              <a:spcBef>
                <a:spcPts val="1200"/>
              </a:spcBef>
              <a:spcAft>
                <a:spcPts val="0"/>
              </a:spcAft>
              <a:buNone/>
            </a:pPr>
            <a:endParaRPr dirty="0"/>
          </a:p>
          <a:p>
            <a:pPr marL="0" lvl="0" indent="0" algn="ctr" rtl="0">
              <a:spcBef>
                <a:spcPts val="1200"/>
              </a:spcBef>
              <a:spcAft>
                <a:spcPts val="0"/>
              </a:spcAft>
              <a:buNone/>
            </a:pPr>
            <a:endParaRPr dirty="0"/>
          </a:p>
          <a:p>
            <a:pPr marL="0" lvl="0" indent="0" algn="l" rtl="0">
              <a:spcBef>
                <a:spcPts val="1200"/>
              </a:spcBef>
              <a:spcAft>
                <a:spcPts val="0"/>
              </a:spcAft>
              <a:buNone/>
            </a:pPr>
            <a:r>
              <a:rPr lang="en" dirty="0"/>
              <a:t>		</a:t>
            </a:r>
            <a:endParaRPr dirty="0"/>
          </a:p>
        </p:txBody>
      </p:sp>
      <p:pic>
        <p:nvPicPr>
          <p:cNvPr id="9" name="Picture 2">
            <a:extLst>
              <a:ext uri="{FF2B5EF4-FFF2-40B4-BE49-F238E27FC236}">
                <a16:creationId xmlns:a16="http://schemas.microsoft.com/office/drawing/2014/main" id="{05AE4B86-38E0-E67E-5F9D-A5A16EA2F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0588" y="1701779"/>
            <a:ext cx="2951262" cy="295126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The Ultimate Guide to Digital Marketing">
            <a:extLst>
              <a:ext uri="{FF2B5EF4-FFF2-40B4-BE49-F238E27FC236}">
                <a16:creationId xmlns:a16="http://schemas.microsoft.com/office/drawing/2014/main" id="{A3606F5B-348C-06B6-1711-8895646E32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658" y="1989837"/>
            <a:ext cx="4909930" cy="25777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5962"/>
    </mc:Choice>
    <mc:Fallback xmlns="">
      <p:transition spd="slow" advTm="4596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DB42F-266F-4E29-BBB7-3FDF11C8124D}"/>
              </a:ext>
            </a:extLst>
          </p:cNvPr>
          <p:cNvSpPr>
            <a:spLocks noGrp="1"/>
          </p:cNvSpPr>
          <p:nvPr>
            <p:ph type="title"/>
          </p:nvPr>
        </p:nvSpPr>
        <p:spPr/>
        <p:txBody>
          <a:bodyPr>
            <a:normAutofit fontScale="90000"/>
          </a:bodyPr>
          <a:lstStyle/>
          <a:p>
            <a:r>
              <a:rPr lang="en-US" dirty="0"/>
              <a:t>Q&amp;A</a:t>
            </a:r>
          </a:p>
        </p:txBody>
      </p:sp>
      <p:sp>
        <p:nvSpPr>
          <p:cNvPr id="3" name="Text Placeholder 2">
            <a:extLst>
              <a:ext uri="{FF2B5EF4-FFF2-40B4-BE49-F238E27FC236}">
                <a16:creationId xmlns:a16="http://schemas.microsoft.com/office/drawing/2014/main" id="{384B190D-4523-4A0A-80CE-D2CEAD8658D4}"/>
              </a:ext>
            </a:extLst>
          </p:cNvPr>
          <p:cNvSpPr>
            <a:spLocks noGrp="1"/>
          </p:cNvSpPr>
          <p:nvPr>
            <p:ph type="body" idx="1"/>
          </p:nvPr>
        </p:nvSpPr>
        <p:spPr>
          <a:xfrm>
            <a:off x="1320800" y="1290975"/>
            <a:ext cx="7734185" cy="3276575"/>
          </a:xfrm>
        </p:spPr>
        <p:txBody>
          <a:bodyPr>
            <a:normAutofit fontScale="85000" lnSpcReduction="10000"/>
          </a:bodyPr>
          <a:lstStyle/>
          <a:p>
            <a:pPr>
              <a:buFont typeface="Lato"/>
              <a:buAutoNum type="arabicPeriod"/>
            </a:pPr>
            <a:r>
              <a:rPr lang="en-US" sz="1800" b="0" i="0" u="none" strike="noStrike" baseline="0" dirty="0">
                <a:solidFill>
                  <a:srgbClr val="000000"/>
                </a:solidFill>
                <a:latin typeface="Arial" panose="020B0604020202020204" pitchFamily="34" charset="0"/>
              </a:rPr>
              <a:t>When testing the different models, were there any others that could be tested? </a:t>
            </a:r>
          </a:p>
          <a:p>
            <a:pPr>
              <a:buFont typeface="Lato"/>
              <a:buAutoNum type="arabicPeriod"/>
            </a:pPr>
            <a:r>
              <a:rPr lang="en-US" sz="1800" b="0" i="0" u="none" strike="noStrike" baseline="0" dirty="0">
                <a:solidFill>
                  <a:srgbClr val="000000"/>
                </a:solidFill>
                <a:latin typeface="Arial" panose="020B0604020202020204" pitchFamily="34" charset="0"/>
              </a:rPr>
              <a:t>On a larger data scale, is there enough computing power for hospital data? </a:t>
            </a:r>
          </a:p>
          <a:p>
            <a:pPr>
              <a:buFont typeface="Lato"/>
              <a:buAutoNum type="arabicPeriod"/>
            </a:pPr>
            <a:r>
              <a:rPr lang="en-US" sz="1800" b="0" i="0" u="none" strike="noStrike" baseline="0" dirty="0">
                <a:solidFill>
                  <a:srgbClr val="000000"/>
                </a:solidFill>
                <a:latin typeface="Arial" panose="020B0604020202020204" pitchFamily="34" charset="0"/>
              </a:rPr>
              <a:t>Are there other ways of optimizing runtimes besides more computing power?</a:t>
            </a:r>
          </a:p>
          <a:p>
            <a:pPr>
              <a:buFont typeface="Lato"/>
              <a:buAutoNum type="arabicPeriod"/>
            </a:pPr>
            <a:r>
              <a:rPr lang="en-US" sz="1800" b="0" i="0" u="none" strike="noStrike" baseline="0" dirty="0">
                <a:solidFill>
                  <a:srgbClr val="000000"/>
                </a:solidFill>
                <a:latin typeface="Arial" panose="020B0604020202020204" pitchFamily="34" charset="0"/>
              </a:rPr>
              <a:t>If heart disease is multiple diseases, could the model predict which disease a patient would develop in addition to a Yes/No answer?</a:t>
            </a:r>
          </a:p>
          <a:p>
            <a:pPr>
              <a:buFont typeface="Lato"/>
              <a:buAutoNum type="arabicPeriod"/>
            </a:pPr>
            <a:r>
              <a:rPr lang="en-US" sz="1800" b="0" i="0" u="none" strike="noStrike" baseline="0" dirty="0">
                <a:solidFill>
                  <a:srgbClr val="000000"/>
                </a:solidFill>
                <a:latin typeface="Arial" panose="020B0604020202020204" pitchFamily="34" charset="0"/>
              </a:rPr>
              <a:t>The diseases that make up the heart disease umbrella are mentioned to have “similar risk factors” but are they similar enough that one model can predict all? </a:t>
            </a:r>
          </a:p>
          <a:p>
            <a:pPr>
              <a:buFont typeface="Lato"/>
              <a:buAutoNum type="arabicPeriod"/>
            </a:pPr>
            <a:r>
              <a:rPr lang="en-US" sz="1800" b="0" i="0" u="none" strike="noStrike" baseline="0" dirty="0">
                <a:solidFill>
                  <a:srgbClr val="000000"/>
                </a:solidFill>
                <a:latin typeface="Arial" panose="020B0604020202020204" pitchFamily="34" charset="0"/>
              </a:rPr>
              <a:t>Will this model work for predicting other diseases with similar risk factors?</a:t>
            </a:r>
          </a:p>
          <a:p>
            <a:pPr>
              <a:buFont typeface="Lato"/>
              <a:buAutoNum type="arabicPeriod"/>
            </a:pPr>
            <a:r>
              <a:rPr lang="en-US" sz="1800" b="0" i="0" u="none" strike="noStrike" baseline="0" dirty="0">
                <a:solidFill>
                  <a:srgbClr val="000000"/>
                </a:solidFill>
                <a:latin typeface="Arial" panose="020B0604020202020204" pitchFamily="34" charset="0"/>
              </a:rPr>
              <a:t>Would hyperparameter tuning have affected the values of the scoring metrics?</a:t>
            </a:r>
          </a:p>
          <a:p>
            <a:pPr>
              <a:buFont typeface="Lato"/>
              <a:buAutoNum type="arabicPeriod"/>
            </a:pPr>
            <a:r>
              <a:rPr lang="en-US" sz="1800" b="0" i="0" u="none" strike="noStrike" baseline="0" dirty="0">
                <a:solidFill>
                  <a:srgbClr val="000000"/>
                </a:solidFill>
                <a:latin typeface="Arial" panose="020B0604020202020204" pitchFamily="34" charset="0"/>
              </a:rPr>
              <a:t>What other future uses are there for this model besides for cell phone providers? </a:t>
            </a:r>
          </a:p>
          <a:p>
            <a:pPr>
              <a:buFont typeface="Lato"/>
              <a:buAutoNum type="arabicPeriod"/>
            </a:pPr>
            <a:r>
              <a:rPr lang="en-US" sz="1800" b="0" i="0" u="none" strike="noStrike" baseline="0" dirty="0">
                <a:solidFill>
                  <a:srgbClr val="000000"/>
                </a:solidFill>
                <a:latin typeface="Arial" panose="020B0604020202020204" pitchFamily="34" charset="0"/>
              </a:rPr>
              <a:t>Why was over-sampling chosen over under-sampling to balance the classes? </a:t>
            </a:r>
          </a:p>
          <a:p>
            <a:pPr>
              <a:buFont typeface="Lato"/>
              <a:buAutoNum type="arabicPeriod"/>
            </a:pPr>
            <a:r>
              <a:rPr lang="en-US" sz="1800" b="0" i="0" u="none" strike="noStrike" baseline="0" dirty="0">
                <a:solidFill>
                  <a:srgbClr val="000000"/>
                </a:solidFill>
                <a:latin typeface="Arial" panose="020B0604020202020204" pitchFamily="34" charset="0"/>
              </a:rPr>
              <a:t>How can insurance companies be prevented from abusing this model? </a:t>
            </a:r>
          </a:p>
          <a:p>
            <a:pPr>
              <a:buFont typeface="Lato"/>
              <a:buAutoNum type="arabicPeriod"/>
            </a:pPr>
            <a:endParaRPr lang="en-US" dirty="0">
              <a:solidFill>
                <a:srgbClr val="000000"/>
              </a:solidFill>
              <a:latin typeface="Arial" panose="020B0604020202020204" pitchFamily="34" charset="0"/>
            </a:endParaRPr>
          </a:p>
          <a:p>
            <a:endParaRPr lang="en-US" dirty="0"/>
          </a:p>
        </p:txBody>
      </p:sp>
    </p:spTree>
    <p:extLst>
      <p:ext uri="{BB962C8B-B14F-4D97-AF65-F5344CB8AC3E}">
        <p14:creationId xmlns:p14="http://schemas.microsoft.com/office/powerpoint/2010/main" val="2278319174"/>
      </p:ext>
    </p:extLst>
  </p:cSld>
  <p:clrMapOvr>
    <a:masterClrMapping/>
  </p:clrMapOvr>
  <mc:AlternateContent xmlns:mc="http://schemas.openxmlformats.org/markup-compatibility/2006" xmlns:p14="http://schemas.microsoft.com/office/powerpoint/2010/main">
    <mc:Choice Requires="p14">
      <p:transition spd="slow" p14:dur="2000" advTm="152123"/>
    </mc:Choice>
    <mc:Fallback xmlns="">
      <p:transition spd="slow" advTm="15212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39ED1-ACD0-4726-AB75-7D97D1945C13}"/>
              </a:ext>
            </a:extLst>
          </p:cNvPr>
          <p:cNvSpPr>
            <a:spLocks noGrp="1"/>
          </p:cNvSpPr>
          <p:nvPr>
            <p:ph type="title"/>
          </p:nvPr>
        </p:nvSpPr>
        <p:spPr>
          <a:xfrm>
            <a:off x="3573870" y="428168"/>
            <a:ext cx="2171750" cy="635400"/>
          </a:xfrm>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8C648E6F-6258-45A5-A4C9-6F16DCF60748}"/>
              </a:ext>
            </a:extLst>
          </p:cNvPr>
          <p:cNvSpPr>
            <a:spLocks noGrp="1"/>
          </p:cNvSpPr>
          <p:nvPr>
            <p:ph type="body" idx="1"/>
          </p:nvPr>
        </p:nvSpPr>
        <p:spPr>
          <a:xfrm>
            <a:off x="152400" y="936505"/>
            <a:ext cx="8839200" cy="3778827"/>
          </a:xfrm>
        </p:spPr>
        <p:txBody>
          <a:bodyPr>
            <a:noAutofit/>
          </a:bodyPr>
          <a:lstStyle/>
          <a:p>
            <a:pPr marL="114300" indent="0">
              <a:buNone/>
            </a:pPr>
            <a:r>
              <a:rPr lang="en-US" sz="1400" b="0" i="0" u="none" strike="noStrike" baseline="0" dirty="0">
                <a:solidFill>
                  <a:srgbClr val="000000"/>
                </a:solidFill>
                <a:latin typeface="Arial" panose="020B0604020202020204" pitchFamily="34" charset="0"/>
              </a:rPr>
              <a:t>Allen, M. (2018). </a:t>
            </a:r>
            <a:r>
              <a:rPr lang="en-US" sz="1400" b="0" i="1" u="none" strike="noStrike" baseline="0" dirty="0">
                <a:solidFill>
                  <a:srgbClr val="000000"/>
                </a:solidFill>
                <a:latin typeface="Arial" panose="020B0604020202020204" pitchFamily="34" charset="0"/>
              </a:rPr>
              <a:t>Health Insurers and Vacuuming Up Details About You – And It Could Raise Your Rates. </a:t>
            </a:r>
            <a:r>
              <a:rPr lang="en-US" sz="1400" b="0" i="0" u="none" strike="noStrike" baseline="0" dirty="0">
                <a:solidFill>
                  <a:srgbClr val="000000"/>
                </a:solidFill>
                <a:latin typeface="Arial" panose="020B0604020202020204" pitchFamily="34" charset="0"/>
              </a:rPr>
              <a:t>ProPublica. Retrieved on April 30, 2022 from https://www.propublica.org/article/health-insurers-are-vacuuming-up-details-about-you-and-it-could-raise-your-rates. </a:t>
            </a:r>
            <a:endParaRPr lang="en-US" sz="1400" dirty="0">
              <a:solidFill>
                <a:srgbClr val="000000"/>
              </a:solidFill>
              <a:latin typeface="Arial" panose="020B0604020202020204" pitchFamily="34" charset="0"/>
            </a:endParaRPr>
          </a:p>
          <a:p>
            <a:pPr marL="114300" indent="0">
              <a:buNone/>
            </a:pPr>
            <a:endParaRPr lang="en-US" sz="1400" b="0" i="0" u="none" strike="noStrike" baseline="0" dirty="0">
              <a:solidFill>
                <a:srgbClr val="000000"/>
              </a:solidFill>
              <a:latin typeface="Arial" panose="020B0604020202020204" pitchFamily="34" charset="0"/>
            </a:endParaRPr>
          </a:p>
          <a:p>
            <a:pPr marL="114300" indent="0">
              <a:buNone/>
            </a:pPr>
            <a:r>
              <a:rPr lang="en-US" sz="1400" b="0" i="0" u="none" strike="noStrike" baseline="0" dirty="0">
                <a:solidFill>
                  <a:srgbClr val="000000"/>
                </a:solidFill>
                <a:latin typeface="Arial" panose="020B0604020202020204" pitchFamily="34" charset="0"/>
              </a:rPr>
              <a:t>Beckerman, J. (2021). </a:t>
            </a:r>
            <a:r>
              <a:rPr lang="en-US" sz="1400" b="0" i="1" u="none" strike="noStrike" baseline="0" dirty="0">
                <a:solidFill>
                  <a:srgbClr val="000000"/>
                </a:solidFill>
                <a:latin typeface="Arial" panose="020B0604020202020204" pitchFamily="34" charset="0"/>
              </a:rPr>
              <a:t>Heart Disease: Types, Causes, and Symptoms. </a:t>
            </a:r>
            <a:r>
              <a:rPr lang="en-US" sz="1400" b="0" i="0" u="none" strike="noStrike" baseline="0" dirty="0">
                <a:solidFill>
                  <a:srgbClr val="000000"/>
                </a:solidFill>
                <a:latin typeface="Arial" panose="020B0604020202020204" pitchFamily="34" charset="0"/>
              </a:rPr>
              <a:t>WebMD. Retrieved on April 30, 2022 from https://www.webmd.com/heart-disease/heart-disease-types-causes-symptoms. </a:t>
            </a:r>
          </a:p>
          <a:p>
            <a:pPr marL="114300" indent="0">
              <a:buNone/>
            </a:pPr>
            <a:endParaRPr lang="en-US" sz="1400" b="0" i="0" u="none" strike="noStrike" baseline="0" dirty="0">
              <a:solidFill>
                <a:srgbClr val="000000"/>
              </a:solidFill>
              <a:latin typeface="Arial" panose="020B0604020202020204" pitchFamily="34" charset="0"/>
            </a:endParaRPr>
          </a:p>
          <a:p>
            <a:pPr marL="114300" indent="0">
              <a:buNone/>
            </a:pPr>
            <a:r>
              <a:rPr lang="en-US" sz="1400" b="0" i="0" u="none" strike="noStrike" baseline="0" dirty="0" err="1">
                <a:solidFill>
                  <a:srgbClr val="000000"/>
                </a:solidFill>
                <a:latin typeface="Arial" panose="020B0604020202020204" pitchFamily="34" charset="0"/>
              </a:rPr>
              <a:t>Karabiber</a:t>
            </a:r>
            <a:r>
              <a:rPr lang="en-US" sz="1400" b="0" i="0" u="none" strike="noStrike" baseline="0" dirty="0">
                <a:solidFill>
                  <a:srgbClr val="000000"/>
                </a:solidFill>
                <a:latin typeface="Arial" panose="020B0604020202020204" pitchFamily="34" charset="0"/>
              </a:rPr>
              <a:t>, F. (2022). </a:t>
            </a:r>
            <a:r>
              <a:rPr lang="en-US" sz="1400" b="0" i="1" u="none" strike="noStrike" baseline="0" dirty="0">
                <a:solidFill>
                  <a:srgbClr val="000000"/>
                </a:solidFill>
                <a:latin typeface="Arial" panose="020B0604020202020204" pitchFamily="34" charset="0"/>
              </a:rPr>
              <a:t>Binary Classification. </a:t>
            </a:r>
            <a:r>
              <a:rPr lang="en-US" sz="1400" b="0" i="0" u="none" strike="noStrike" baseline="0" dirty="0" err="1">
                <a:solidFill>
                  <a:srgbClr val="000000"/>
                </a:solidFill>
                <a:latin typeface="Arial" panose="020B0604020202020204" pitchFamily="34" charset="0"/>
              </a:rPr>
              <a:t>LearnDataSci</a:t>
            </a:r>
            <a:r>
              <a:rPr lang="en-US" sz="1400" b="0" i="0" u="none" strike="noStrike" baseline="0" dirty="0">
                <a:solidFill>
                  <a:srgbClr val="000000"/>
                </a:solidFill>
                <a:latin typeface="Arial" panose="020B0604020202020204" pitchFamily="34" charset="0"/>
              </a:rPr>
              <a:t>. Retrieved on April 30, 2022 from https://www.learndatasci.com/glossary/binary-classification/. </a:t>
            </a:r>
          </a:p>
          <a:p>
            <a:pPr marL="114300" indent="0">
              <a:buNone/>
            </a:pPr>
            <a:endParaRPr lang="en-US" sz="1400" b="0" i="0" u="none" strike="noStrike" baseline="0" dirty="0">
              <a:solidFill>
                <a:srgbClr val="000000"/>
              </a:solidFill>
              <a:latin typeface="Arial" panose="020B0604020202020204" pitchFamily="34" charset="0"/>
            </a:endParaRPr>
          </a:p>
          <a:p>
            <a:pPr marL="114300" indent="0">
              <a:buNone/>
            </a:pPr>
            <a:r>
              <a:rPr lang="en-US" sz="1400" b="0" i="0" u="none" strike="noStrike" baseline="0" dirty="0" err="1">
                <a:solidFill>
                  <a:srgbClr val="000000"/>
                </a:solidFill>
                <a:latin typeface="Arial" panose="020B0604020202020204" pitchFamily="34" charset="0"/>
              </a:rPr>
              <a:t>Koehrsen</a:t>
            </a:r>
            <a:r>
              <a:rPr lang="en-US" sz="1400" b="0" i="0" u="none" strike="noStrike" baseline="0" dirty="0">
                <a:solidFill>
                  <a:srgbClr val="000000"/>
                </a:solidFill>
                <a:latin typeface="Arial" panose="020B0604020202020204" pitchFamily="34" charset="0"/>
              </a:rPr>
              <a:t>, W. (2018). </a:t>
            </a:r>
            <a:r>
              <a:rPr lang="en-US" sz="1400" b="0" i="1" u="none" strike="noStrike" baseline="0" dirty="0">
                <a:solidFill>
                  <a:srgbClr val="000000"/>
                </a:solidFill>
                <a:latin typeface="Arial" panose="020B0604020202020204" pitchFamily="34" charset="0"/>
              </a:rPr>
              <a:t>Hyperparameter Tuning the Random Forest in Python. </a:t>
            </a:r>
            <a:r>
              <a:rPr lang="en-US" sz="1400" b="0" i="0" u="none" strike="noStrike" baseline="0" dirty="0">
                <a:solidFill>
                  <a:srgbClr val="000000"/>
                </a:solidFill>
                <a:latin typeface="Arial" panose="020B0604020202020204" pitchFamily="34" charset="0"/>
              </a:rPr>
              <a:t>Towards Data Science. Retrieved on April 30, 2022 from https://towardsdatascience.com/hyperparameter-tuning-the-random-forest-in-python-using-scikit-learn-28d2aa77dd74. </a:t>
            </a:r>
            <a:endParaRPr lang="en-US" sz="1400" dirty="0"/>
          </a:p>
        </p:txBody>
      </p:sp>
    </p:spTree>
    <p:extLst>
      <p:ext uri="{BB962C8B-B14F-4D97-AF65-F5344CB8AC3E}">
        <p14:creationId xmlns:p14="http://schemas.microsoft.com/office/powerpoint/2010/main" val="1110263359"/>
      </p:ext>
    </p:extLst>
  </p:cSld>
  <p:clrMapOvr>
    <a:masterClrMapping/>
  </p:clrMapOvr>
  <mc:AlternateContent xmlns:mc="http://schemas.openxmlformats.org/markup-compatibility/2006" xmlns:p14="http://schemas.microsoft.com/office/powerpoint/2010/main">
    <mc:Choice Requires="p14">
      <p:transition spd="slow" p14:dur="2000" advTm="20585"/>
    </mc:Choice>
    <mc:Fallback xmlns="">
      <p:transition spd="slow" advTm="20585"/>
    </mc:Fallback>
  </mc:AlternateContent>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769</TotalTime>
  <Words>1512</Words>
  <Application>Microsoft Office PowerPoint</Application>
  <PresentationFormat>On-screen Show (16:9)</PresentationFormat>
  <Paragraphs>92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Lato</vt:lpstr>
      <vt:lpstr>Raleway</vt:lpstr>
      <vt:lpstr>Swiss</vt:lpstr>
      <vt:lpstr>Predicting Heart Disease Risk</vt:lpstr>
      <vt:lpstr>Introduction/Problem</vt:lpstr>
      <vt:lpstr>Solution</vt:lpstr>
      <vt:lpstr>Ethical Considerations</vt:lpstr>
      <vt:lpstr>Dataset</vt:lpstr>
      <vt:lpstr>Procedure for Analysis</vt:lpstr>
      <vt:lpstr>Part 1: Data Preparation</vt:lpstr>
      <vt:lpstr>Part 2: EDA</vt:lpstr>
      <vt:lpstr>Part 3: Model Training/Testing</vt:lpstr>
      <vt:lpstr>Assumptions</vt:lpstr>
      <vt:lpstr>Challenges Encountered</vt:lpstr>
      <vt:lpstr>Future Model Uses</vt:lpstr>
      <vt:lpstr>Q&amp;A</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Movie Popularity on IMDb</dc:title>
  <dc:creator>Bilal Kudaimi</dc:creator>
  <cp:lastModifiedBy>Bilal Kudaimi</cp:lastModifiedBy>
  <cp:revision>214</cp:revision>
  <dcterms:modified xsi:type="dcterms:W3CDTF">2022-05-07T02:00:57Z</dcterms:modified>
</cp:coreProperties>
</file>